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6430A"/>
    <a:srgbClr val="E6DF54"/>
    <a:srgbClr val="FCFBEA"/>
    <a:srgbClr val="F0EC98"/>
    <a:srgbClr val="F6F4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82688" autoAdjust="0"/>
  </p:normalViewPr>
  <p:slideViewPr>
    <p:cSldViewPr snapToGrid="0">
      <p:cViewPr>
        <p:scale>
          <a:sx n="51" d="100"/>
          <a:sy n="51" d="100"/>
        </p:scale>
        <p:origin x="2910" y="9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E31E86-4E8C-4755-A896-4AC08C0CC38F}" type="datetimeFigureOut">
              <a:rPr lang="pt-BR" smtClean="0"/>
              <a:t>18/02/2026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E1D19B-D03F-4038-8862-2C08FCC623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694343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1D19B-D03F-4038-8862-2C08FCC623A1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73348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2193EC-570A-773C-8F5F-BC2807596F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231DD33-43EC-9E12-C6A8-3B717824A8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E2EF94F-CE25-2927-AB9F-6F9C98600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3E033-7681-402D-966B-580E86942E5F}" type="datetimeFigureOut">
              <a:rPr lang="pt-BR" smtClean="0"/>
              <a:t>18/02/2026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E79C34-594C-FA31-279F-E770F7FE6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72E857F-D3EB-B129-F416-2FD4E37CD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D82B2-BFE3-4E37-A47D-8E6405BCC4C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36883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BC2EDB-04FF-4AF7-6829-E7FFAF131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401DD65-C691-9374-7D87-D3A6AC2C98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5DD2A3A-026B-FA61-7736-215D6A99C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3E033-7681-402D-966B-580E86942E5F}" type="datetimeFigureOut">
              <a:rPr lang="pt-BR" smtClean="0"/>
              <a:t>18/02/2026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C09330F-C849-01CD-085C-F4CA37B79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75DCC10-25BD-7D28-CD5B-57C70E867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D82B2-BFE3-4E37-A47D-8E6405BCC4C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8459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4901B9-8175-0B85-E8FF-A7DBF9126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ACD856D-6C34-8448-A032-AE4ABC87D8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30004F3-1111-D55E-6EC2-65FA6EDAE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3E033-7681-402D-966B-580E86942E5F}" type="datetimeFigureOut">
              <a:rPr lang="pt-BR" smtClean="0"/>
              <a:t>18/02/2026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7269A14-D135-4A3B-A062-16324E0C8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DCA97D1-E0E2-B2C3-2CA7-BDCEDE3B1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D82B2-BFE3-4E37-A47D-8E6405BCC4C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4880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7C5821-639A-82A0-A41B-A08B71D98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7A6196-5E4B-E765-0673-0CD6C2E213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ACAC2C7-14BC-1D03-A90B-E8A485C7B8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95D04EE-D129-F3FA-9C37-3C574006C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3E033-7681-402D-966B-580E86942E5F}" type="datetimeFigureOut">
              <a:rPr lang="pt-BR" smtClean="0"/>
              <a:t>18/02/2026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57D84A9-1589-B4F2-75BD-270A9791A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9E12B0F-4CF6-A763-E0EF-A8D1B8378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D82B2-BFE3-4E37-A47D-8E6405BCC4C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4624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38D5F1-A75C-74DB-5877-AB847B5ED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F9924F6-BBCD-B468-C0F3-2B4641F6A7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C37C9F7-A552-F047-8644-0373EBD138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81F98F7-A113-6486-4302-0524BF441C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E58B3A2-0155-21BF-2380-804560D04A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CCFB628-46FA-59DC-559B-9241D2A57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3E033-7681-402D-966B-580E86942E5F}" type="datetimeFigureOut">
              <a:rPr lang="pt-BR" smtClean="0"/>
              <a:t>18/02/2026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86F4615-7284-EFE0-9B13-271E49178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1DCDFDA-5C37-0BD8-4225-C557E7B76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D82B2-BFE3-4E37-A47D-8E6405BCC4C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054926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051E0C-A1C1-BCFB-C371-F8FC9FDEE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4A4FF8A-CABF-72CE-350C-B0630C43B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3E033-7681-402D-966B-580E86942E5F}" type="datetimeFigureOut">
              <a:rPr lang="pt-BR" smtClean="0"/>
              <a:t>18/02/2026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0EBDA6D-FDA4-958F-EEEA-3E5D8BD27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2AA8D07-26E3-F5C7-D74E-60CF11559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D82B2-BFE3-4E37-A47D-8E6405BCC4C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07637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AA20B37-D6EC-2E44-ABCF-01E5C6EA6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3E033-7681-402D-966B-580E86942E5F}" type="datetimeFigureOut">
              <a:rPr lang="pt-BR" smtClean="0"/>
              <a:t>18/02/2026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83EA2FA-D6B7-BCBA-7593-AE7C66487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DC60D1F-840C-610F-ED78-522A487AB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D82B2-BFE3-4E37-A47D-8E6405BCC4C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4415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7EECB0-31D8-7331-4F66-A44B8DB59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CFA118E-617F-D7D5-3A2F-4898A34445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24A1980-C558-7CE6-0A47-DCE6F68915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9313921-16AD-61F0-CFE1-44F89C834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3E033-7681-402D-966B-580E86942E5F}" type="datetimeFigureOut">
              <a:rPr lang="pt-BR" smtClean="0"/>
              <a:t>18/02/2026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5D1EE0-CBAA-137E-CF48-195FA2EF5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1E54D47-22C2-0D4C-B531-D4CCB7562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D82B2-BFE3-4E37-A47D-8E6405BCC4C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7523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72EECD-1FF2-CD84-970E-1611D2F44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BBB93FF-4FFD-1F74-7FB6-4F88585038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A7B4E31-7618-268F-C511-0113EE371B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C86FF36-A927-C215-B43D-5923558E7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3E033-7681-402D-966B-580E86942E5F}" type="datetimeFigureOut">
              <a:rPr lang="pt-BR" smtClean="0"/>
              <a:t>18/02/2026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1CF86F8-70CE-6563-B6E5-6437A2FC4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A4D014A-CB24-58CC-928C-F663A6C6E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D82B2-BFE3-4E37-A47D-8E6405BCC4C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8210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9260D5-B3A1-9627-779A-AAFE475A1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1BD7EDC-2BE7-843D-995E-7178351C8D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22763FC-1E19-D07D-E855-DECA4E0DF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3E033-7681-402D-966B-580E86942E5F}" type="datetimeFigureOut">
              <a:rPr lang="pt-BR" smtClean="0"/>
              <a:t>18/02/2026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1ED5B5B-F7D7-4484-031B-3BFC9C11B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E3E7240-3B6E-B2A3-7D23-1820F6FDF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D82B2-BFE3-4E37-A47D-8E6405BCC4C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9363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56470DB-44AD-9F62-9872-79CEA61881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F163E74-082E-1244-7070-8DB0DF916E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5825C96-F628-2C60-5DD5-C27F31D59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3E033-7681-402D-966B-580E86942E5F}" type="datetimeFigureOut">
              <a:rPr lang="pt-BR" smtClean="0"/>
              <a:t>18/02/2026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E646873-4B8C-058D-F7FF-E85368F53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675479-550D-556D-AFC0-1BBE28A42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D82B2-BFE3-4E37-A47D-8E6405BCC4C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77157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4929E88-3166-3C54-5EE7-34978302E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927714A-6971-0E4D-8C11-B3D7780C24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24F70D2-1212-B3C2-794C-19FBB2720B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53E033-7681-402D-966B-580E86942E5F}" type="datetimeFigureOut">
              <a:rPr lang="pt-BR" smtClean="0"/>
              <a:t>18/02/2026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A46155A-CF71-E1BE-22B7-375FFC5E02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7B1E10E-FF53-B181-785F-2E65BFA6D2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BD82B2-BFE3-4E37-A47D-8E6405BCC4C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0969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A8FB7D-89FF-B27B-D8A5-478BB13645B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43B458F-2C9C-4839-217F-33E77ABC2E2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483E2F4-4D54-CF81-C337-13B45BA4D44F}"/>
              </a:ext>
            </a:extLst>
          </p:cNvPr>
          <p:cNvSpPr/>
          <p:nvPr/>
        </p:nvSpPr>
        <p:spPr>
          <a:xfrm>
            <a:off x="-97276" y="-618566"/>
            <a:ext cx="13771466" cy="8001001"/>
          </a:xfrm>
          <a:prstGeom prst="rect">
            <a:avLst/>
          </a:prstGeom>
          <a:solidFill>
            <a:srgbClr val="F6F4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6" name="Retângulo: Cantos Superiores Arredondados 25">
            <a:extLst>
              <a:ext uri="{FF2B5EF4-FFF2-40B4-BE49-F238E27FC236}">
                <a16:creationId xmlns:a16="http://schemas.microsoft.com/office/drawing/2014/main" id="{E9D09198-2385-FD63-137E-F0695260302E}"/>
              </a:ext>
            </a:extLst>
          </p:cNvPr>
          <p:cNvSpPr/>
          <p:nvPr/>
        </p:nvSpPr>
        <p:spPr>
          <a:xfrm rot="16200000">
            <a:off x="4416864" y="-2305823"/>
            <a:ext cx="6966793" cy="11547857"/>
          </a:xfrm>
          <a:prstGeom prst="round2SameRect">
            <a:avLst>
              <a:gd name="adj1" fmla="val 8369"/>
              <a:gd name="adj2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B96432BF-04C0-45F0-9B63-6265416272F7}"/>
              </a:ext>
            </a:extLst>
          </p:cNvPr>
          <p:cNvSpPr/>
          <p:nvPr/>
        </p:nvSpPr>
        <p:spPr>
          <a:xfrm>
            <a:off x="2620172" y="776722"/>
            <a:ext cx="2451102" cy="1333842"/>
          </a:xfrm>
          <a:prstGeom prst="roundRect">
            <a:avLst/>
          </a:prstGeom>
          <a:solidFill>
            <a:srgbClr val="F0EC98"/>
          </a:solidFill>
          <a:ln>
            <a:noFill/>
          </a:ln>
          <a:effectLst>
            <a:outerShdw blurRad="1524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B06D4A7B-27D0-C59A-455C-CD474C48DC1B}"/>
              </a:ext>
            </a:extLst>
          </p:cNvPr>
          <p:cNvSpPr/>
          <p:nvPr/>
        </p:nvSpPr>
        <p:spPr>
          <a:xfrm>
            <a:off x="5266674" y="771317"/>
            <a:ext cx="2451102" cy="1333842"/>
          </a:xfrm>
          <a:prstGeom prst="roundRect">
            <a:avLst/>
          </a:prstGeom>
          <a:solidFill>
            <a:srgbClr val="F0EC98"/>
          </a:solidFill>
          <a:ln>
            <a:noFill/>
          </a:ln>
          <a:effectLst>
            <a:outerShdw blurRad="1524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F5B21EC2-2F5E-3518-AC68-8333EB4B7C9C}"/>
              </a:ext>
            </a:extLst>
          </p:cNvPr>
          <p:cNvSpPr/>
          <p:nvPr/>
        </p:nvSpPr>
        <p:spPr>
          <a:xfrm>
            <a:off x="8072546" y="771317"/>
            <a:ext cx="2451102" cy="1333842"/>
          </a:xfrm>
          <a:prstGeom prst="roundRect">
            <a:avLst/>
          </a:prstGeom>
          <a:solidFill>
            <a:srgbClr val="F0EC98"/>
          </a:solidFill>
          <a:ln>
            <a:noFill/>
          </a:ln>
          <a:effectLst>
            <a:outerShdw blurRad="1524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B3EA2FC8-4D4C-8E15-08EB-6187AFDB85AA}"/>
              </a:ext>
            </a:extLst>
          </p:cNvPr>
          <p:cNvSpPr/>
          <p:nvPr/>
        </p:nvSpPr>
        <p:spPr>
          <a:xfrm>
            <a:off x="10680139" y="771317"/>
            <a:ext cx="2451102" cy="1333842"/>
          </a:xfrm>
          <a:prstGeom prst="roundRect">
            <a:avLst/>
          </a:prstGeom>
          <a:solidFill>
            <a:srgbClr val="F0EC98"/>
          </a:solidFill>
          <a:ln>
            <a:noFill/>
          </a:ln>
          <a:effectLst>
            <a:outerShdw blurRad="1524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0D4A3FBE-36D3-A346-AB0B-A230DEE66C87}"/>
              </a:ext>
            </a:extLst>
          </p:cNvPr>
          <p:cNvSpPr/>
          <p:nvPr/>
        </p:nvSpPr>
        <p:spPr>
          <a:xfrm>
            <a:off x="2522324" y="2431769"/>
            <a:ext cx="5204604" cy="2059139"/>
          </a:xfrm>
          <a:prstGeom prst="roundRect">
            <a:avLst/>
          </a:prstGeom>
          <a:solidFill>
            <a:srgbClr val="FCFBEA"/>
          </a:solidFill>
          <a:ln>
            <a:noFill/>
          </a:ln>
          <a:effectLst>
            <a:outerShdw blurRad="1524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E052734A-6521-A8C9-BCC0-7B5AAA9CF775}"/>
              </a:ext>
            </a:extLst>
          </p:cNvPr>
          <p:cNvSpPr/>
          <p:nvPr/>
        </p:nvSpPr>
        <p:spPr>
          <a:xfrm>
            <a:off x="8087729" y="2434443"/>
            <a:ext cx="5138103" cy="2059139"/>
          </a:xfrm>
          <a:prstGeom prst="roundRect">
            <a:avLst/>
          </a:prstGeom>
          <a:solidFill>
            <a:srgbClr val="FCFBEA"/>
          </a:solidFill>
          <a:ln>
            <a:noFill/>
          </a:ln>
          <a:effectLst>
            <a:outerShdw blurRad="1524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B37C18F7-EF84-167A-B2BC-855B4BB1CAB2}"/>
              </a:ext>
            </a:extLst>
          </p:cNvPr>
          <p:cNvSpPr/>
          <p:nvPr/>
        </p:nvSpPr>
        <p:spPr>
          <a:xfrm>
            <a:off x="2554543" y="4623643"/>
            <a:ext cx="5156995" cy="2059139"/>
          </a:xfrm>
          <a:prstGeom prst="roundRect">
            <a:avLst/>
          </a:prstGeom>
          <a:solidFill>
            <a:srgbClr val="FCFBEA"/>
          </a:solidFill>
          <a:ln>
            <a:noFill/>
          </a:ln>
          <a:effectLst>
            <a:outerShdw blurRad="1524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3DDF7418-A695-C23B-042B-CB6A33CB6810}"/>
              </a:ext>
            </a:extLst>
          </p:cNvPr>
          <p:cNvSpPr/>
          <p:nvPr/>
        </p:nvSpPr>
        <p:spPr>
          <a:xfrm>
            <a:off x="8073179" y="4623643"/>
            <a:ext cx="5136794" cy="2059139"/>
          </a:xfrm>
          <a:prstGeom prst="roundRect">
            <a:avLst/>
          </a:prstGeom>
          <a:solidFill>
            <a:srgbClr val="FCFBEA"/>
          </a:solidFill>
          <a:ln>
            <a:noFill/>
          </a:ln>
          <a:effectLst>
            <a:outerShdw blurRad="1524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1C73579E-C4F5-044B-0B0C-BE404C94012E}"/>
              </a:ext>
            </a:extLst>
          </p:cNvPr>
          <p:cNvSpPr txBox="1"/>
          <p:nvPr/>
        </p:nvSpPr>
        <p:spPr>
          <a:xfrm>
            <a:off x="2635604" y="194399"/>
            <a:ext cx="31044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 Demi" panose="020F0502020204030204" pitchFamily="34" charset="0"/>
              </a:rPr>
              <a:t>Global </a:t>
            </a:r>
            <a:r>
              <a:rPr lang="pt-BR" sz="2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 Demi" panose="020F0502020204030204" pitchFamily="34" charset="0"/>
              </a:rPr>
              <a:t>Ads</a:t>
            </a:r>
            <a:r>
              <a:rPr lang="pt-BR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 Demi" panose="020F0502020204030204" pitchFamily="34" charset="0"/>
              </a:rPr>
              <a:t> Dashboard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CA9DB4F0-F65B-1B64-7076-DF9817FCEEEA}"/>
              </a:ext>
            </a:extLst>
          </p:cNvPr>
          <p:cNvSpPr txBox="1"/>
          <p:nvPr/>
        </p:nvSpPr>
        <p:spPr>
          <a:xfrm>
            <a:off x="2612910" y="2583156"/>
            <a:ext cx="15018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 Demi" panose="020F0502020204030204" pitchFamily="34" charset="0"/>
              </a:rPr>
              <a:t>ROAS </a:t>
            </a:r>
            <a:r>
              <a:rPr lang="pt-BR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 Demi" panose="020F0502020204030204" pitchFamily="34" charset="0"/>
              </a:rPr>
              <a:t>by</a:t>
            </a:r>
            <a:r>
              <a:rPr lang="pt-B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 Demi" panose="020F0502020204030204" pitchFamily="34" charset="0"/>
              </a:rPr>
              <a:t> Platform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223C84C0-6B67-125B-9D96-3E5ECEF14647}"/>
              </a:ext>
            </a:extLst>
          </p:cNvPr>
          <p:cNvSpPr txBox="1"/>
          <p:nvPr/>
        </p:nvSpPr>
        <p:spPr>
          <a:xfrm>
            <a:off x="2632419" y="4755310"/>
            <a:ext cx="14823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 Demi" panose="020F0502020204030204" pitchFamily="34" charset="0"/>
              </a:rPr>
              <a:t>CPA </a:t>
            </a:r>
            <a:r>
              <a:rPr lang="pt-BR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 Demi" panose="020F0502020204030204" pitchFamily="34" charset="0"/>
              </a:rPr>
              <a:t>by</a:t>
            </a:r>
            <a:r>
              <a:rPr lang="pt-B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 Demi" panose="020F0502020204030204" pitchFamily="34" charset="0"/>
              </a:rPr>
              <a:t> Platform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F0FB60AC-3C3A-67FC-7CA4-F1C11469BE10}"/>
              </a:ext>
            </a:extLst>
          </p:cNvPr>
          <p:cNvSpPr txBox="1"/>
          <p:nvPr/>
        </p:nvSpPr>
        <p:spPr>
          <a:xfrm>
            <a:off x="8199852" y="2564508"/>
            <a:ext cx="16408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 Demi" panose="020F0502020204030204" pitchFamily="34" charset="0"/>
              </a:rPr>
              <a:t>ROI </a:t>
            </a:r>
            <a:r>
              <a:rPr lang="pt-BR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 Demi" panose="020F0502020204030204" pitchFamily="34" charset="0"/>
              </a:rPr>
              <a:t>by</a:t>
            </a:r>
            <a:r>
              <a:rPr lang="pt-B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 Demi" panose="020F0502020204030204" pitchFamily="34" charset="0"/>
              </a:rPr>
              <a:t> Platform</a:t>
            </a:r>
          </a:p>
        </p:txBody>
      </p: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60883C6D-431C-36E5-C1E7-6E0F36F413D3}"/>
              </a:ext>
            </a:extLst>
          </p:cNvPr>
          <p:cNvSpPr txBox="1"/>
          <p:nvPr/>
        </p:nvSpPr>
        <p:spPr>
          <a:xfrm>
            <a:off x="8193109" y="4827923"/>
            <a:ext cx="13664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 Demi" panose="020F0502020204030204" pitchFamily="34" charset="0"/>
              </a:rPr>
              <a:t>CPC </a:t>
            </a:r>
            <a:r>
              <a:rPr lang="pt-BR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 Demi" panose="020F0502020204030204" pitchFamily="34" charset="0"/>
              </a:rPr>
              <a:t>by</a:t>
            </a:r>
            <a:r>
              <a:rPr lang="pt-B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 Demi" panose="020F0502020204030204" pitchFamily="34" charset="0"/>
              </a:rPr>
              <a:t> Platform</a:t>
            </a:r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2378C16D-0B7C-E58C-64D0-C3C84E15D076}"/>
              </a:ext>
            </a:extLst>
          </p:cNvPr>
          <p:cNvSpPr txBox="1"/>
          <p:nvPr/>
        </p:nvSpPr>
        <p:spPr>
          <a:xfrm>
            <a:off x="3262678" y="1733257"/>
            <a:ext cx="10143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>
                <a:latin typeface="Avenir Next LT Pro Demi" panose="020F0502020204030204" pitchFamily="34" charset="0"/>
              </a:rPr>
              <a:t>Total </a:t>
            </a:r>
            <a:r>
              <a:rPr lang="pt-BR" sz="1200" dirty="0" err="1">
                <a:latin typeface="Avenir Next LT Pro Demi" panose="020F0502020204030204" pitchFamily="34" charset="0"/>
              </a:rPr>
              <a:t>Spend</a:t>
            </a:r>
            <a:endParaRPr lang="pt-BR" sz="1200" dirty="0">
              <a:latin typeface="Avenir Next LT Pro Demi" panose="020F0502020204030204" pitchFamily="34" charset="0"/>
            </a:endParaRPr>
          </a:p>
        </p:txBody>
      </p: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2C6E9D8C-7D1C-9C1A-48B8-01B1A22DE0FB}"/>
              </a:ext>
            </a:extLst>
          </p:cNvPr>
          <p:cNvSpPr txBox="1"/>
          <p:nvPr/>
        </p:nvSpPr>
        <p:spPr>
          <a:xfrm>
            <a:off x="5808258" y="1744666"/>
            <a:ext cx="13021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latin typeface="Avenir Next LT Pro Demi" panose="020F0502020204030204" pitchFamily="34" charset="0"/>
              </a:rPr>
              <a:t>Total </a:t>
            </a:r>
            <a:r>
              <a:rPr lang="pt-BR" sz="1200" b="1" dirty="0" err="1">
                <a:latin typeface="Avenir Next LT Pro Demi" panose="020F0502020204030204" pitchFamily="34" charset="0"/>
              </a:rPr>
              <a:t>Revenue</a:t>
            </a:r>
            <a:endParaRPr lang="pt-BR" sz="1200" b="1" dirty="0">
              <a:latin typeface="Avenir Next LT Pro Demi" panose="020F0502020204030204" pitchFamily="34" charset="0"/>
            </a:endParaRPr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FF36589D-66B1-0225-4912-D4E7031AFD42}"/>
              </a:ext>
            </a:extLst>
          </p:cNvPr>
          <p:cNvSpPr txBox="1"/>
          <p:nvPr/>
        </p:nvSpPr>
        <p:spPr>
          <a:xfrm>
            <a:off x="8752079" y="1744666"/>
            <a:ext cx="9528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latin typeface="Avenir Next LT Pro Demi" panose="020F0502020204030204" pitchFamily="34" charset="0"/>
              </a:rPr>
              <a:t>Total Profit</a:t>
            </a:r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D5862E7B-2A71-428B-5450-F84DCFC34425}"/>
              </a:ext>
            </a:extLst>
          </p:cNvPr>
          <p:cNvSpPr txBox="1"/>
          <p:nvPr/>
        </p:nvSpPr>
        <p:spPr>
          <a:xfrm>
            <a:off x="11133443" y="1754940"/>
            <a:ext cx="15738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latin typeface="Avenir Next LT Pro Demi" panose="020F0502020204030204" pitchFamily="34" charset="0"/>
              </a:rPr>
              <a:t>Total </a:t>
            </a:r>
            <a:r>
              <a:rPr lang="pt-BR" sz="1200" b="1" dirty="0" err="1">
                <a:latin typeface="Avenir Next LT Pro Demi" panose="020F0502020204030204" pitchFamily="34" charset="0"/>
              </a:rPr>
              <a:t>Conversions</a:t>
            </a:r>
            <a:endParaRPr lang="pt-BR" sz="1200" b="1" dirty="0">
              <a:latin typeface="Avenir Next LT Pro Demi" panose="020F0502020204030204" pitchFamily="34" charset="0"/>
            </a:endParaRPr>
          </a:p>
        </p:txBody>
      </p:sp>
      <p:pic>
        <p:nvPicPr>
          <p:cNvPr id="60" name="Gráfico 59" descr="Moedas estrutura de tópicos">
            <a:extLst>
              <a:ext uri="{FF2B5EF4-FFF2-40B4-BE49-F238E27FC236}">
                <a16:creationId xmlns:a16="http://schemas.microsoft.com/office/drawing/2014/main" id="{C04F9EBF-162F-3883-6148-28A52D28D6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08473" y="860242"/>
            <a:ext cx="341026" cy="341026"/>
          </a:xfrm>
          <a:prstGeom prst="rect">
            <a:avLst/>
          </a:prstGeom>
        </p:spPr>
      </p:pic>
      <p:pic>
        <p:nvPicPr>
          <p:cNvPr id="61" name="Gráfico 60" descr="Moedas estrutura de tópicos">
            <a:extLst>
              <a:ext uri="{FF2B5EF4-FFF2-40B4-BE49-F238E27FC236}">
                <a16:creationId xmlns:a16="http://schemas.microsoft.com/office/drawing/2014/main" id="{349EAB91-24B5-A150-BEF8-931670F1F4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48851" y="856630"/>
            <a:ext cx="341026" cy="341026"/>
          </a:xfrm>
          <a:prstGeom prst="rect">
            <a:avLst/>
          </a:prstGeom>
        </p:spPr>
      </p:pic>
      <p:pic>
        <p:nvPicPr>
          <p:cNvPr id="62" name="Gráfico 61" descr="Moedas estrutura de tópicos">
            <a:extLst>
              <a:ext uri="{FF2B5EF4-FFF2-40B4-BE49-F238E27FC236}">
                <a16:creationId xmlns:a16="http://schemas.microsoft.com/office/drawing/2014/main" id="{EDC9D5A1-051A-BDCF-EAA2-AB3E6AA9B8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46353" y="850595"/>
            <a:ext cx="341026" cy="341026"/>
          </a:xfrm>
          <a:prstGeom prst="rect">
            <a:avLst/>
          </a:prstGeom>
        </p:spPr>
      </p:pic>
      <p:pic>
        <p:nvPicPr>
          <p:cNvPr id="64" name="Gráfico 63" descr="Melhoria contínua estrutura de tópicos">
            <a:extLst>
              <a:ext uri="{FF2B5EF4-FFF2-40B4-BE49-F238E27FC236}">
                <a16:creationId xmlns:a16="http://schemas.microsoft.com/office/drawing/2014/main" id="{236CCFA5-6EDC-51B1-15BD-B13105251D0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718128" y="801158"/>
            <a:ext cx="400110" cy="400110"/>
          </a:xfrm>
          <a:prstGeom prst="rect">
            <a:avLst/>
          </a:prstGeom>
        </p:spPr>
      </p:pic>
      <p:sp>
        <p:nvSpPr>
          <p:cNvPr id="65" name="Retângulo: Cantos Superiores Arredondados 64">
            <a:extLst>
              <a:ext uri="{FF2B5EF4-FFF2-40B4-BE49-F238E27FC236}">
                <a16:creationId xmlns:a16="http://schemas.microsoft.com/office/drawing/2014/main" id="{23FA41D0-C7AC-8E22-24F9-42B93E4F996D}"/>
              </a:ext>
            </a:extLst>
          </p:cNvPr>
          <p:cNvSpPr/>
          <p:nvPr/>
        </p:nvSpPr>
        <p:spPr>
          <a:xfrm rot="5400000">
            <a:off x="540049" y="-128817"/>
            <a:ext cx="322029" cy="1596681"/>
          </a:xfrm>
          <a:prstGeom prst="round2SameRect">
            <a:avLst>
              <a:gd name="adj1" fmla="val 30984"/>
              <a:gd name="adj2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6" name="CaixaDeTexto 65">
            <a:extLst>
              <a:ext uri="{FF2B5EF4-FFF2-40B4-BE49-F238E27FC236}">
                <a16:creationId xmlns:a16="http://schemas.microsoft.com/office/drawing/2014/main" id="{E65676A2-71CE-DA3A-E8F8-B546A5642B57}"/>
              </a:ext>
            </a:extLst>
          </p:cNvPr>
          <p:cNvSpPr txBox="1"/>
          <p:nvPr/>
        </p:nvSpPr>
        <p:spPr>
          <a:xfrm>
            <a:off x="386440" y="531023"/>
            <a:ext cx="9074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>
                <a:latin typeface="Avenir Next LT Pro Demi" panose="020F0502020204030204" pitchFamily="34" charset="0"/>
              </a:rPr>
              <a:t>Filter</a:t>
            </a:r>
          </a:p>
        </p:txBody>
      </p:sp>
      <p:pic>
        <p:nvPicPr>
          <p:cNvPr id="68" name="Gráfico 67" descr="Filtro com preenchimento sólido">
            <a:extLst>
              <a:ext uri="{FF2B5EF4-FFF2-40B4-BE49-F238E27FC236}">
                <a16:creationId xmlns:a16="http://schemas.microsoft.com/office/drawing/2014/main" id="{E52E5617-ADF1-59A2-53E2-342F7673AD0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03747" y="537188"/>
            <a:ext cx="276999" cy="276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35164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25</Words>
  <Application>Microsoft Office PowerPoint</Application>
  <PresentationFormat>Widescreen</PresentationFormat>
  <Paragraphs>11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Avenir Next LT Pro Demi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Raquel Caetano</dc:creator>
  <cp:lastModifiedBy>Raquel Caetano</cp:lastModifiedBy>
  <cp:revision>2</cp:revision>
  <dcterms:created xsi:type="dcterms:W3CDTF">2026-02-18T09:19:03Z</dcterms:created>
  <dcterms:modified xsi:type="dcterms:W3CDTF">2026-02-18T15:21:37Z</dcterms:modified>
</cp:coreProperties>
</file>